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  <p:embeddedFont>
      <p:font typeface="Helvetica Neue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22" Type="http://schemas.openxmlformats.org/officeDocument/2006/relationships/font" Target="fonts/HelveticaNeue-italic.fntdata"/><Relationship Id="rId21" Type="http://schemas.openxmlformats.org/officeDocument/2006/relationships/font" Target="fonts/HelveticaNeue-bold.fntdata"/><Relationship Id="rId24" Type="http://schemas.openxmlformats.org/officeDocument/2006/relationships/font" Target="fonts/HelveticaNeueLight-regular.fntdata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Light-italic.fntdata"/><Relationship Id="rId25" Type="http://schemas.openxmlformats.org/officeDocument/2006/relationships/font" Target="fonts/HelveticaNeueLight-bold.fntdata"/><Relationship Id="rId27" Type="http://schemas.openxmlformats.org/officeDocument/2006/relationships/font" Target="fonts/HelveticaNeue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7bfc835d5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a7bfc835d5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7bfc835d5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7bfc835d5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7bfc835d5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a7bfc835d5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7bfc835d5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a7bfc835d5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7bfc835d5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a7bfc835d5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7bfc835d5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a7bfc835d5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7bfc835d5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7bfc835d5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7bfc835d5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a7bfc835d5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7bfc835d5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a7bfc835d5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7bfc835d5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7bfc835d5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7bfc835d5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a7bfc835d5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7bfc835d5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a7bfc835d5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829350" y="3476325"/>
            <a:ext cx="10533300" cy="5922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Accident Risk Prediction Using Apache Spark MLlib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051600" y="4929025"/>
            <a:ext cx="60888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 Boosted Trees (GBT) Regressor</a:t>
            </a:r>
            <a:endParaRPr b="1"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766600" y="5521225"/>
            <a:ext cx="66588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Shashwat Gohel | Aryan Sukhadiya | Vedant Parikh</a:t>
            </a:r>
            <a:endParaRPr b="1"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505950" y="4068525"/>
            <a:ext cx="51801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- 521 - Big Data Analytics</a:t>
            </a:r>
            <a:endParaRPr b="1"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831850" y="63392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160">
                <a:latin typeface="Times New Roman"/>
                <a:ea typeface="Times New Roman"/>
                <a:cs typeface="Times New Roman"/>
                <a:sym typeface="Times New Roman"/>
              </a:rPr>
              <a:t>Accident Risk Prediction - Spark MLlib</a:t>
            </a:r>
            <a:endParaRPr sz="41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622125" y="1160501"/>
            <a:ext cx="10515600" cy="4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 a continuous accident_risk score (0–1) for every road segment.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 authorities identify and prioritize the most dangerous road segments.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historical crash data, traffic patterns, road features, and environmental factors.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 is to minimize RMSE on unseen test data for best prediction accuracy.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Handle challenges like imbalanced accident data, missing values, and spatial patterns.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output: a ranked list/map of road segments based on predicted risk.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proactive decision-making, resource allocation, and road-safety planning.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Dataset Overview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639675" y="1300275"/>
            <a:ext cx="4938900" cy="46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Total road segments: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≈ 690,000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Training set: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517,000 rows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Test set: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172,000 rows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Total features: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12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4 categorical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4 boolean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3 numeric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1 target: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accident_risk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(0–1 range)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Most important numeric feature: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Curvature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0 = straight road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1 = extremely sharp curve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b="1" sz="3200"/>
          </a:p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45024" t="0"/>
          <a:stretch/>
        </p:blipFill>
        <p:spPr>
          <a:xfrm>
            <a:off x="5522994" y="971550"/>
            <a:ext cx="5576801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54871" r="0" t="0"/>
          <a:stretch/>
        </p:blipFill>
        <p:spPr>
          <a:xfrm>
            <a:off x="6711193" y="3763075"/>
            <a:ext cx="4577801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Gradient Boosted Trees ( GBT )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639675" y="1150150"/>
            <a:ext cx="4624500" cy="4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latin typeface="Helvetica Neue"/>
                <a:ea typeface="Helvetica Neue"/>
                <a:cs typeface="Helvetica Neue"/>
                <a:sym typeface="Helvetica Neue"/>
              </a:rPr>
              <a:t>1.  What is GBT ?</a:t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Ensemble method using many small decision trees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Trees are built one after another (sequentially)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Each tree improves the mistakes made by previous trees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Final prediction = sum of all trees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Great for non-linear and tabular data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2.  How the Algorithm Works : 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Start with a basic prediction (mean/log-odds)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Train Tree 1 → model makes some errors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Compute residuals (errors)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Train Tree 2 on these residuals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Update the model = old prediction + Tree2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Repeat for many trees (boosting)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5835950" y="1314413"/>
            <a:ext cx="4624500" cy="4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latin typeface="Helvetica Neue"/>
                <a:ea typeface="Helvetica Neue"/>
                <a:cs typeface="Helvetica Neue"/>
                <a:sym typeface="Helvetica Neue"/>
              </a:rPr>
              <a:t>3. Key Parameters : </a:t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maxIter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→ number of trees (iterations)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maxDepth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→ how detailed each tree can be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learning Rate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step Size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→ how much each tree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contributes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9" name="Google Shape;11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5275" y="3056425"/>
            <a:ext cx="6414075" cy="360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Gradient Boosted Trees ( GBT )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39675" y="1150150"/>
            <a:ext cx="4624500" cy="4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Helvetica Neue"/>
              <a:buAutoNum type="arabicPeriod"/>
            </a:pPr>
            <a:r>
              <a:rPr b="1" lang="en-US" sz="1800">
                <a:latin typeface="Helvetica Neue"/>
                <a:ea typeface="Helvetica Neue"/>
                <a:cs typeface="Helvetica Neue"/>
                <a:sym typeface="Helvetica Neue"/>
              </a:rPr>
              <a:t>Why Gradient Boosting Trees : </a:t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9144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Captures complex, non-linear patterns in road and traffic features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Builds trees sequentially, improving mistakes step-by-step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Higher accuracy compared to single trees or linear models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Works extremely well on tabular datasets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Less overfitting due to boosting + shallow trees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Performs strongly with mixed feature types (numeric + categorical)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Stable and reliable for regression problems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Font typeface="Helvetica Neue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Easy to scale on large datasets using Spark MLlib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2350" y="1860975"/>
            <a:ext cx="6414075" cy="360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Graphical Visualization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639675" y="1150150"/>
            <a:ext cx="4624500" cy="4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Strongest Predictor Confirmed: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The highest correlation with accident_risk is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Curvature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at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0.545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. This confirms that road geometry (how sharp the curve is) is the most significant numeric factor influencing risk.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Second Strongest Predictor: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Speed Limit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shows a substantial positive correlation of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0.432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accident_risk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. Higher speed limits generally correspond to higher accident risk.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1650" y="1302546"/>
            <a:ext cx="5312184" cy="482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Graphical Visualization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639675" y="1150150"/>
            <a:ext cx="4624500" cy="4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Distribution of Accident Risk :</a:t>
            </a: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Helvetica Neue"/>
              <a:buChar char="•"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Target Variable: </a:t>
            </a: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Accident Risk Score Distribution 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•"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Continuous risk score</a:t>
            </a: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•"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Mean</a:t>
            </a: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 = 0.351, 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•"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Median </a:t>
            </a: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= 0.340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•"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Slightly right-skewed :</a:t>
            </a: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 with long tail of high-risk segments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•"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Justifies </a:t>
            </a: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regression</a:t>
            </a: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 approach (not binary classification)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•"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Small but critical number of segments have risk &gt; 0.8 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7550" y="2075259"/>
            <a:ext cx="6623027" cy="2955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Graphical Visualization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54" name="Google Shape;15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575" y="1302546"/>
            <a:ext cx="6623027" cy="392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639675" y="1302550"/>
            <a:ext cx="4624500" cy="4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Accident Risk by Road Type</a:t>
            </a: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 :</a:t>
            </a: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Helvetica Neue"/>
              <a:buChar char="•"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Urban roads: </a:t>
            </a: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highest median risk (~0.52)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•"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Rural roads: </a:t>
            </a: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medium risk (~0.48)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•"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Highways: </a:t>
            </a: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lowest risk (~0.44)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Helvetica Neue"/>
              <a:buChar char="•"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Explanation: </a:t>
            </a: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Urban areas have intersections, pedestrians, traffic lights i.e.  more conflict points despite lower speeds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Graphical Visualization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161" name="Google Shape;161;p21"/>
          <p:cNvSpPr txBox="1"/>
          <p:nvPr>
            <p:ph idx="1" type="body"/>
          </p:nvPr>
        </p:nvSpPr>
        <p:spPr>
          <a:xfrm>
            <a:off x="639675" y="1150150"/>
            <a:ext cx="4624500" cy="4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Curvature as a Predictor: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Road segments with a curvature near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0 (straight)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have the lowest accident risk, generally below 0.3.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Segments with a curvature near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1 (sharp curve)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show the highest accident risk, often exceeding 0.5.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Conclusion: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Sharp curves are inherently more dangerous, demanding lower speeds and increased driver attention. This feature alone is a dominant factor in the GBT model's prediction.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21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575" y="1302546"/>
            <a:ext cx="6623027" cy="3925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Graphical Visualization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170" name="Google Shape;170;p22"/>
          <p:cNvSpPr txBox="1"/>
          <p:nvPr>
            <p:ph idx="1" type="body"/>
          </p:nvPr>
        </p:nvSpPr>
        <p:spPr>
          <a:xfrm>
            <a:off x="639675" y="1150150"/>
            <a:ext cx="4624500" cy="4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High-Speed Risk: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Speed limits of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60 km/h and 70 km/h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have significantly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higher median accident risk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(≈ 0.45 and ≈ 0.44 respectively) and a wider spread of high-risk outliers.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This is due to the exponential increase in collision severity and reaction distance at higher speeds.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Low-Speed Risk: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Speed limits of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25, 35, and 45 km/h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all show similar,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lower median risk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(≈ 0.30).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22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73" name="Google Shape;1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575" y="1302546"/>
            <a:ext cx="6623027" cy="3563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Graphical Visualization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639675" y="1150150"/>
            <a:ext cx="4624500" cy="4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Daylight: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Shows the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tightest distribution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and the lowest overall risk. The majority of risk scores cluster around the median (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≈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0.30).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Night: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The risk distribution is the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widest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and shows a higher concentration of risk scores in the upper range, indicating that the risk is significantly higher on average due to poor visibility.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Dim: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Represents conditions like twilight, dawn, or poorly lit areas. The risk distribution is generally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between daylight and night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but still shows a concentration of higher risk scores compared to daylight.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23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82" name="Google Shape;18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575" y="1302546"/>
            <a:ext cx="6623027" cy="3925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Graphical Visualization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188" name="Google Shape;188;p24"/>
          <p:cNvSpPr txBox="1"/>
          <p:nvPr>
            <p:ph idx="1" type="body"/>
          </p:nvPr>
        </p:nvSpPr>
        <p:spPr>
          <a:xfrm>
            <a:off x="639675" y="1150150"/>
            <a:ext cx="4624500" cy="4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Foggy Weather: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Shows the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highest median accident risk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(≈ 0.37) and a greater proportion of high-risk segments. This is likely due to extreme visibility loss, making it difficult to react to road conditions like curvature.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Rainy Weather: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Shows a slightly lower median risk ( 0.35) than foggy conditions, but is still significantly higher than clear weather. This is attributed to reduced visibility and slippery road surfaces.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Clear Weather: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Has the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lowest median accident risk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(≈ 0.30).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2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24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91" name="Google Shape;1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575" y="1302546"/>
            <a:ext cx="6623027" cy="3925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Graphical Visualization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639675" y="1150150"/>
            <a:ext cx="5088000" cy="4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Peak Risk Period: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Evening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period exhibits the highest average accident risk (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≈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0.35), closely followed by Morning and Afternoon.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Evening commute times are typically characterized by a combination of high traffic volume, driver fatigue after the workday, and rapidly deteriorating light conditions (leading to reduced visibility), all contributing to higher risk.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Lowest Risk Period: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Night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has the lowest average accident risk, despite poor visibility. This is typically due to significantly lower traffic volume, which reduces the absolute number of conflict points.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2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2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200" name="Google Shape;2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7775" y="1302550"/>
            <a:ext cx="6471823" cy="392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Graphical Visualization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639675" y="1150150"/>
            <a:ext cx="4624500" cy="4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Observation: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The box plot shows that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Holidays have a slightly higher median accident risk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(0.37) compared to Regular Days (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≈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0.35). The range of risk scores is also slightly broader on holidays.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Reasoning: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Holidays often involve longer-distance travel, unfamiliar routes, and sometimes impaired driving due to celebration, which offsets the benefit of reduced commuter traffic.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model recognizes this subtle but measurable increase in risk associated with holiday periods.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2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26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209" name="Google Shape;2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575" y="1302546"/>
            <a:ext cx="6490342" cy="4829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587375" y="260346"/>
            <a:ext cx="105156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801B19"/>
                </a:solidFill>
              </a:rPr>
              <a:t>Final Results</a:t>
            </a:r>
            <a:endParaRPr>
              <a:solidFill>
                <a:srgbClr val="801B19"/>
              </a:solidFill>
            </a:endParaRPr>
          </a:p>
        </p:txBody>
      </p:sp>
      <p:sp>
        <p:nvSpPr>
          <p:cNvPr id="215" name="Google Shape;215;p27"/>
          <p:cNvSpPr txBox="1"/>
          <p:nvPr>
            <p:ph idx="1" type="body"/>
          </p:nvPr>
        </p:nvSpPr>
        <p:spPr>
          <a:xfrm>
            <a:off x="639675" y="1300276"/>
            <a:ext cx="8811900" cy="12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RMSE =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0.06297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R² =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0.8567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MAE =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0.04865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Improvement over baseline =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62.1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b="1" sz="4300"/>
          </a:p>
        </p:txBody>
      </p:sp>
      <p:sp>
        <p:nvSpPr>
          <p:cNvPr id="216" name="Google Shape;216;p2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2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218" name="Google Shape;218;p27"/>
          <p:cNvSpPr txBox="1"/>
          <p:nvPr/>
        </p:nvSpPr>
        <p:spPr>
          <a:xfrm>
            <a:off x="7411350" y="1090575"/>
            <a:ext cx="24642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801B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</a:t>
            </a:r>
            <a:endParaRPr b="1" sz="3000">
              <a:solidFill>
                <a:srgbClr val="801B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9" name="Google Shape;21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375" y="3429000"/>
            <a:ext cx="6377449" cy="20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9450" y="1935050"/>
            <a:ext cx="4234325" cy="3546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